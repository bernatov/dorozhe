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Открытие: продаём знание потолка цены, не гарантию сделки.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Ядро продукта: воспроизводим расчёт покупателя в интересах продавца.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причины одностороннего торга; вывод — незнание стоит денег.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раздела отчёта = три инструмента: опорная цена, доверие покупателя, рост до сделки.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Визуализация сценария застройки на участке.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Вход бесплатный, полный цикл — 10 рабочих дней.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Снятие конфликта с каналом: брокер — союзник, не конкурент.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Якорение: между бесполезной для переговоров оценкой и медленным дорогим консалтингом.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Призыв: бесплатный первый шаг, контакты.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712">
              <a:alpha val="7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</a:t>
            </a:r>
            <a:pPr indent="0" marL="0">
              <a:buNone/>
            </a:pPr>
            <a:r>
              <a:rPr lang="en-US" sz="1200" spc="300" kern="0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ООО «ДОРОЖЕ КОНСАЛТИНГ» · ДЛЯ СОБСТВЕННИКОВ ЗЕМЛИ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6F2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Ваша земля стоит дороже.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6F2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— насколько.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A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Ценовой потолок участка по той же финансовой модели, по которой его считает инвесткомитет девелопера. 10 рабочих дней — до переговоров.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A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+7 912 457-83-59   ·   K.bernatov@gmail.com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</a:t>
            </a:r>
            <a:pPr indent="0" marL="0">
              <a:buNone/>
            </a:pPr>
            <a:r>
              <a:rPr lang="en-US" sz="1200" spc="300" kern="0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МЕТОД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покупатель считает вашу землю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600" dirty="0">
                <a:solidFill>
                  <a:srgbClr val="F6F2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Выручка проекта
</a:t>
            </a:r>
            <a:pPr indent="0" marL="0">
              <a:lnSpc>
                <a:spcPct val="135000"/>
              </a:lnSpc>
              <a:buNone/>
            </a:pPr>
            <a:r>
              <a:rPr lang="en-US" sz="2600" dirty="0">
                <a:solidFill>
                  <a:srgbClr val="F6F2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 Себестоимость стройки
</a:t>
            </a:r>
            <a:pPr indent="0" marL="0">
              <a:lnSpc>
                <a:spcPct val="135000"/>
              </a:lnSpc>
              <a:buNone/>
            </a:pPr>
            <a:r>
              <a:rPr lang="en-US" sz="2600" dirty="0">
                <a:solidFill>
                  <a:srgbClr val="F6F2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 Маржа девелопера
</a:t>
            </a:r>
            <a:pPr indent="0" marL="0">
              <a:lnSpc>
                <a:spcPct val="135000"/>
              </a:lnSpc>
              <a:buNone/>
            </a:pPr>
            <a:r>
              <a:rPr lang="en-US" sz="2600" b="1" dirty="0">
                <a:solidFill>
                  <a:srgbClr val="E2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 Потолок цены вашей земли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132320" y="2103120"/>
            <a:ext cx="4480560" cy="2743200"/>
          </a:xfrm>
          <a:prstGeom prst="roundRect">
            <a:avLst>
              <a:gd name="adj" fmla="val 2000"/>
            </a:avLst>
          </a:prstGeom>
          <a:solidFill>
            <a:srgbClr val="132A22"/>
          </a:solidFill>
          <a:ln w="12700">
            <a:solidFill>
              <a:srgbClr val="3E5D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0" y="237744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B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единственная формула, по которой покупатель считает участок. Кадастровая стоимость, цена соседа и «хочу миллиард» в ней не участвуют.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«ДОРОЖЕ» НАЧИНАЕТСЯ С ЭТОЙ ФОРМУЛЫ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</a:t>
            </a:r>
            <a:pPr indent="0" marL="0">
              <a:buNone/>
            </a:pPr>
            <a:r>
              <a:rPr lang="en-US" sz="1200" spc="300" kern="0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СИТУАЦИЯ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без расчёта земля продаётся дешевле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063240"/>
          </a:xfrm>
          <a:prstGeom prst="roundRect">
            <a:avLst>
              <a:gd name="adj" fmla="val 1791"/>
            </a:avLst>
          </a:prstGeom>
          <a:solidFill>
            <a:srgbClr val="FCFAF3"/>
          </a:solidFill>
          <a:ln w="12700">
            <a:solidFill>
              <a:srgbClr val="CFC5A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ПРИЧИНА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без модели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покупателя — финмодель и расчёт остаточной стоимости. У продавца — ощущение и кадастр. Модель всегда побеждает ощущение.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9976" y="1783080"/>
            <a:ext cx="3611880" cy="3063240"/>
          </a:xfrm>
          <a:prstGeom prst="roundRect">
            <a:avLst>
              <a:gd name="adj" fmla="val 1791"/>
            </a:avLst>
          </a:prstGeom>
          <a:solidFill>
            <a:srgbClr val="FCFAF3"/>
          </a:solidFill>
          <a:ln w="12700">
            <a:solidFill>
              <a:srgbClr val="CFC5A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4296" y="2057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ПРИЧИНА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54296" y="24688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— в корзину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310896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Концепция «своего проектировщика» не совпадает с продуктом девелопера. Он покупает землю, а неопределённость закладывает в дисконт.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11312" y="1783080"/>
            <a:ext cx="3611880" cy="3063240"/>
          </a:xfrm>
          <a:prstGeom prst="roundRect">
            <a:avLst>
              <a:gd name="adj" fmla="val 1791"/>
            </a:avLst>
          </a:prstGeom>
          <a:solidFill>
            <a:srgbClr val="FCFAF3"/>
          </a:solidFill>
          <a:ln w="12700">
            <a:solidFill>
              <a:srgbClr val="CFC5A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85632" y="2057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ПРИЧИНА 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485632" y="24688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покупатель — не рынок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310896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участок способен быстро проверить один девелопер, цена двигается вниз. Предложения появляются там, где участок легко посчитать.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EAE4D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4406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Дешевле — не свойство вашей земли. </a:t>
            </a:r>
            <a:pPr indent="0" marL="0">
              <a:buNone/>
            </a:pPr>
            <a:r>
              <a:rPr lang="en-US" sz="1650" b="1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цена незнания её потолка.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</a:t>
            </a:r>
            <a:pPr indent="0" marL="0">
              <a:buNone/>
            </a:pPr>
            <a:r>
              <a:rPr lang="en-US" sz="1200" spc="300" kern="0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ПРОДУКТ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2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отчёт. Три инструмента переговоров.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РАЗДЕЛ 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2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Потолок «как есть»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810512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Коридор цены из 2–3 сценариев застройки: посадка, ТЭП и остаточная модель по каждому. Максимум участка известен до начала торга.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45536"/>
            <a:ext cx="11091672" cy="0"/>
          </a:xfrm>
          <a:prstGeom prst="line">
            <a:avLst/>
          </a:prstGeom>
          <a:noFill/>
          <a:ln w="9525">
            <a:solidFill>
              <a:srgbClr val="3E5D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310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РАЗДЕЛ 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32644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2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Досье участка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329184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Проверяемая первичка: ПЗЗ и градпотенциал, ЕГРН, ЗОУИТ, сети, рынок с источниками. Проверка у девелопера — дни, а не недели.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26864"/>
            <a:ext cx="11091672" cy="0"/>
          </a:xfrm>
          <a:prstGeom prst="line">
            <a:avLst/>
          </a:prstGeom>
          <a:noFill/>
          <a:ln w="9525">
            <a:solidFill>
              <a:srgbClr val="3E5D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7914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РАЗДЕЛ 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47457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2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капитализации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773168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Шаги, поднимающие потолок до сделки: ВРИ, ГПЗУ, ТУ, межевание — с оценкой прироста стоимости и сроков.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0B1712">
              <a:alpha val="8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2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Участок глазами девелопера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35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2–3 сценария посадки  ·  ТЭП  ·  остаточная модель по каждому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</a:t>
            </a:r>
            <a:pPr indent="0" marL="0">
              <a:buNone/>
            </a:pPr>
            <a:r>
              <a:rPr lang="en-US" sz="1200" spc="300" kern="0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 ПРОХОДИТ РАБОТА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кадастрового номера до опорной цены — 10 рабочих дней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3566160"/>
          </a:xfrm>
          <a:prstGeom prst="roundRect">
            <a:avLst>
              <a:gd name="adj" fmla="val 2069"/>
            </a:avLst>
          </a:prstGeom>
          <a:solidFill>
            <a:srgbClr val="FCFAF3"/>
          </a:solidFill>
          <a:ln w="12700">
            <a:solidFill>
              <a:srgbClr val="CFC5A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Кадастровый номер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Присылаете номер участка — через 48 часов экспресс-вердикт: есть ли потенциал.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БЕСПЛАТНО · 48 Ч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2424" y="1828800"/>
            <a:ext cx="2651760" cy="3566160"/>
          </a:xfrm>
          <a:prstGeom prst="roundRect">
            <a:avLst>
              <a:gd name="adj" fmla="val 2069"/>
            </a:avLst>
          </a:prstGeom>
          <a:solidFill>
            <a:srgbClr val="FCFAF3"/>
          </a:solidFill>
          <a:ln w="12700">
            <a:solidFill>
              <a:srgbClr val="CFC5A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21024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21024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и данные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621024" y="32004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Соглашение о конфиденциальности, запрос выписок и градостроительных данных.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ДЕНЬ 1–2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36208" y="1828800"/>
            <a:ext cx="2651760" cy="3566160"/>
          </a:xfrm>
          <a:prstGeom prst="roundRect">
            <a:avLst>
              <a:gd name="adj" fmla="val 2069"/>
            </a:avLst>
          </a:prstGeom>
          <a:solidFill>
            <a:srgbClr val="FCFAF3"/>
          </a:solidFill>
          <a:ln w="12700">
            <a:solidFill>
              <a:srgbClr val="CFC5A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4808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64808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Моделирование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464808" y="32004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сценария застройки: посадка, ТЭП, остаточная модель. Коридор цены.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ДЕНЬ 3–8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79992" y="1828800"/>
            <a:ext cx="2651760" cy="3566160"/>
          </a:xfrm>
          <a:prstGeom prst="roundRect">
            <a:avLst>
              <a:gd name="adj" fmla="val 2069"/>
            </a:avLst>
          </a:prstGeom>
          <a:solidFill>
            <a:srgbClr val="FCFAF3"/>
          </a:solidFill>
          <a:ln w="12700">
            <a:solidFill>
              <a:srgbClr val="CFC5A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08592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308592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и разбор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308592" y="32004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отчёта и созвон: как использовать каждый раздел в переговорах.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308592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ДЕНЬ 9–10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</a:t>
            </a:r>
            <a:pPr indent="0" marL="0">
              <a:buNone/>
            </a:pPr>
            <a:r>
              <a:rPr lang="en-US" sz="1200" spc="300" kern="0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ЕСЛИ У ВАС УЖЕ ЕСТЬ БРОКЕР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F2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Отлично. Мы играем за вашу сторону стола — вместе с ним.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Брокер создаёт спрос и ведёт сделку. Мы даём ему расчёт, который покупатель не может выбросить: предложение начинают считать, а не торговать «от хотелки».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66560" y="1463040"/>
            <a:ext cx="4846320" cy="1097280"/>
          </a:xfrm>
          <a:prstGeom prst="roundRect">
            <a:avLst>
              <a:gd name="adj" fmla="val 5000"/>
            </a:avLst>
          </a:prstGeom>
          <a:solidFill>
            <a:srgbClr val="132A22"/>
          </a:solidFill>
          <a:ln w="12700">
            <a:solidFill>
              <a:srgbClr val="3E5D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0" y="18470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16276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забираем сделку и не заменяем брокера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766560" y="2834640"/>
            <a:ext cx="4846320" cy="1097280"/>
          </a:xfrm>
          <a:prstGeom prst="roundRect">
            <a:avLst>
              <a:gd name="adj" fmla="val 5000"/>
            </a:avLst>
          </a:prstGeom>
          <a:solidFill>
            <a:srgbClr val="132A22"/>
          </a:solidFill>
          <a:ln w="12700">
            <a:solidFill>
              <a:srgbClr val="3E5D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0" y="3218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9992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выходим на покупателей без вашего решения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66560" y="4206240"/>
            <a:ext cx="4846320" cy="1097280"/>
          </a:xfrm>
          <a:prstGeom prst="roundRect">
            <a:avLst>
              <a:gd name="adj" fmla="val 5000"/>
            </a:avLst>
          </a:prstGeom>
          <a:solidFill>
            <a:srgbClr val="132A22"/>
          </a:solidFill>
          <a:ln w="12700">
            <a:solidFill>
              <a:srgbClr val="3E5D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4590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437083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претендуем на комиссию — фиксированная стоимость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</a:t>
            </a:r>
            <a:pPr indent="0" marL="0">
              <a:buNone/>
            </a:pPr>
            <a:r>
              <a:rPr lang="en-US" sz="1200" spc="300" kern="0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СТОИМОСТЬ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Стоимость анализа фиксирована. Стоимость незнания — нет.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6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1 000 000 ₽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один участок · 10 рабочих дней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двумя этапами: 50% старт · 50% при передаче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раздела отчёта + разбор стратегии переговоров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Экспресс-диагностика до старта — 0 ₽, вердикт за 48 часов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CFAF3"/>
          </a:solidFill>
          <a:ln w="12700">
            <a:solidFill>
              <a:srgbClr val="CFC5A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20482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ОТЧЁТ ОБ ОЦЕНКЕ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3225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150 тыс. ₽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7066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банка и суда; девелопер в переговорах его не использует.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333756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CFAF3"/>
          </a:solidFill>
          <a:ln w="12700">
            <a:solidFill>
              <a:srgbClr val="CFC5A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34655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A57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ФЕДЕРАЛЬНЫЙ КОНСАЛТИНГ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7398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1,5 млн ₽ · 4–8 недель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12394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Исследования для активов от миллиарда.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0" y="475488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0B1712"/>
          </a:solidFill>
          <a:ln w="12700">
            <a:solidFill>
              <a:srgbClr val="0B171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48828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ДОРОЖЕ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515721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млн ₽ · 10 дней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554126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D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на языке инвесткомитета покупателя.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712">
              <a:alpha val="8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</a:t>
            </a:r>
            <a:pPr indent="0" marL="0">
              <a:buNone/>
            </a:pPr>
            <a:r>
              <a:rPr lang="en-US" sz="1200" spc="300" kern="0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ЭКСПРЕСС-ДИАГНОСТИКА · 0 ₽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6F2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Узнайте, насколько дороже, —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6F2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 переговоров, а не после.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A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Пришлите кадастровый номер участка — вердикт о девелоперском потенциале в течение 48 часов.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94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2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+7 912 457-83-59      K.bernatov@gmail.com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2026-08-29T17:00:11Z</dcterms:created>
  <dcterms:modified xsi:type="dcterms:W3CDTF">2026-08-29T17:00:11Z</dcterms:modified>
</cp:coreProperties>
</file>